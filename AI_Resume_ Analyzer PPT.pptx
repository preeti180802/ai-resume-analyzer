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7"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6"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90778-41FA-65DE-B2B1-F4E0DD84D4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2DC817-037C-3544-D217-767B9D3DD6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BDD328-086A-EEE3-FCDE-87C2A5AFF703}"/>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15FA0AE9-20CF-7CFF-A987-AFD169FFCE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A5C26-7C98-A09F-2839-4548CC7CE934}"/>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2407690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7B46A-C161-28BE-0307-0BE7681AFE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BE8AF7-45D4-E581-0CEA-FE129238D4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1C790-9D65-98A8-0B09-D4915B27711D}"/>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60B50800-F298-07AB-401D-8E09D0F132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497AB2-ADE8-C1F7-4A6A-C6D1225D518B}"/>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173562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9C22F-011F-61FF-69C2-FA88CAB537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F051E2-0C1A-70D8-931D-027C180E34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09752A-3D20-FEB9-C795-26B2AACF90CF}"/>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E5F47202-050F-5D11-8B75-E2A9E8B21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D2009-8171-D3F0-609C-8CD3804280DE}"/>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883440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BFFA-2912-F750-9B02-59146BE4E1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6B8DDE-3CB9-62F7-B8E9-4796AC4FD0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84809A-733E-09D5-C9B7-FEB00141D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FD4A37-0658-B492-780C-FE7DD9BABA73}"/>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6" name="Footer Placeholder 5">
            <a:extLst>
              <a:ext uri="{FF2B5EF4-FFF2-40B4-BE49-F238E27FC236}">
                <a16:creationId xmlns:a16="http://schemas.microsoft.com/office/drawing/2014/main" id="{A8ED56A2-A423-3EC7-CDC8-B073CD2691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B47D0F-4AB0-C5CA-C77D-6CD94A467FF1}"/>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2884751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56C26-782F-67FF-5F5B-A1C53E5FA3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AF9693-5FBC-D390-D648-800B93EDBA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783236-C88C-7BAA-707B-4D5F2AE287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BFC1FE-BD28-3D82-6D68-1F3790CDB2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DB9A31-DA97-FC6B-9E9F-A65881307B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708E0F-945D-0B7F-D25D-701D19731A9D}"/>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8" name="Footer Placeholder 7">
            <a:extLst>
              <a:ext uri="{FF2B5EF4-FFF2-40B4-BE49-F238E27FC236}">
                <a16:creationId xmlns:a16="http://schemas.microsoft.com/office/drawing/2014/main" id="{C945C947-9519-ED64-D538-8BA07A297BB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68A124-4F29-683C-F733-BEB4AB1F91B8}"/>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4037195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BB80-33EF-6E0D-7930-17145F9169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A12698-3A78-DC62-DF78-91FE1CDA9F47}"/>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4" name="Footer Placeholder 3">
            <a:extLst>
              <a:ext uri="{FF2B5EF4-FFF2-40B4-BE49-F238E27FC236}">
                <a16:creationId xmlns:a16="http://schemas.microsoft.com/office/drawing/2014/main" id="{F4A764FE-D3D1-6ED5-666C-56F9D62736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60C3A4-B096-70A9-A26C-DFD4AEC0A147}"/>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1236134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690A26-9EF7-1BB0-5293-45F8207E26AF}"/>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3" name="Footer Placeholder 2">
            <a:extLst>
              <a:ext uri="{FF2B5EF4-FFF2-40B4-BE49-F238E27FC236}">
                <a16:creationId xmlns:a16="http://schemas.microsoft.com/office/drawing/2014/main" id="{5F567B84-E73B-C361-72A5-0214F1E67E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4CFA8E-4061-25A3-7A53-FFF4EEE671BD}"/>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3093099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8A7E9-3B2A-0E0D-921B-3A9C55B5F2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6316FD-D6E8-8E52-7958-DD3B4C81E5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015783-E561-1591-D17F-8A991B4E9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886FA-E0BD-DB87-9AE5-8B720E3DD2C9}"/>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6" name="Footer Placeholder 5">
            <a:extLst>
              <a:ext uri="{FF2B5EF4-FFF2-40B4-BE49-F238E27FC236}">
                <a16:creationId xmlns:a16="http://schemas.microsoft.com/office/drawing/2014/main" id="{B1BD9806-0EF1-1261-52DE-BC200C48FE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402CD4-20BC-49B3-9867-4535C544378C}"/>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1427718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C75A-75B3-CCB3-8457-CD9D66770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0E4A45-A9A2-89B0-9D3B-A7B44F1562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9DEF64-6256-8D6F-E805-CC6389B27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A07FA5-E8B0-1C99-71F5-45200F5FFEAB}"/>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6" name="Footer Placeholder 5">
            <a:extLst>
              <a:ext uri="{FF2B5EF4-FFF2-40B4-BE49-F238E27FC236}">
                <a16:creationId xmlns:a16="http://schemas.microsoft.com/office/drawing/2014/main" id="{9FCA675F-94CC-1971-AF46-66D12076BC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44066D-3CB9-B943-31B2-0EA5F1922D1E}"/>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1298664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4799-4A12-0D50-DDC7-E6B063BB2B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43CAF0-266D-0E42-C93F-334056D164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443C41-BEDA-352E-1F8B-A10257AE0431}"/>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E940FFC4-CF6D-3B95-1F56-55B743709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E6636F-B673-F244-A856-72FCA1C3B535}"/>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752912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0A1D0C-8703-997F-31B0-CD91C43DA5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8F6D95-A301-4A58-2B31-D64E30A6B4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192A4C-8DBE-61FF-6C9D-E04ABFDB8FC6}"/>
              </a:ext>
            </a:extLst>
          </p:cNvPr>
          <p:cNvSpPr>
            <a:spLocks noGrp="1"/>
          </p:cNvSpPr>
          <p:nvPr>
            <p:ph type="dt" sz="half" idx="10"/>
          </p:nvPr>
        </p:nvSpPr>
        <p:spPr/>
        <p:txBody>
          <a:body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41EF57A6-FE03-C0C0-7D82-196EE34EA0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F64ABD-6666-1CBB-BDA4-E2ABF9585C31}"/>
              </a:ext>
            </a:extLst>
          </p:cNvPr>
          <p:cNvSpPr>
            <a:spLocks noGrp="1"/>
          </p:cNvSpPr>
          <p:nvPr>
            <p:ph type="sldNum" sz="quarter" idx="12"/>
          </p:nvPr>
        </p:nvSpPr>
        <p:spPr/>
        <p:txBody>
          <a:bodyPr/>
          <a:lstStyle/>
          <a:p>
            <a:fld id="{865F9AE3-70BD-47A8-BEBB-42995681C525}" type="slidenum">
              <a:rPr lang="en-IN" smtClean="0"/>
              <a:t>‹#›</a:t>
            </a:fld>
            <a:endParaRPr lang="en-IN"/>
          </a:p>
        </p:txBody>
      </p:sp>
    </p:spTree>
    <p:extLst>
      <p:ext uri="{BB962C8B-B14F-4D97-AF65-F5344CB8AC3E}">
        <p14:creationId xmlns:p14="http://schemas.microsoft.com/office/powerpoint/2010/main" val="927072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7A73BC-0652-AB94-9920-19003D8D90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91D820-D2C9-04A3-36AB-4C4F67224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2A425-D70C-AD85-8437-B53CF6C0B6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8655B1-4A2D-4717-86C9-AE0D81B858EA}" type="datetimeFigureOut">
              <a:rPr lang="en-IN" smtClean="0"/>
              <a:t>07-07-2026</a:t>
            </a:fld>
            <a:endParaRPr lang="en-IN"/>
          </a:p>
        </p:txBody>
      </p:sp>
      <p:sp>
        <p:nvSpPr>
          <p:cNvPr id="5" name="Footer Placeholder 4">
            <a:extLst>
              <a:ext uri="{FF2B5EF4-FFF2-40B4-BE49-F238E27FC236}">
                <a16:creationId xmlns:a16="http://schemas.microsoft.com/office/drawing/2014/main" id="{09B4A5F9-2DF4-08A7-AAA4-032FF8D340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27C97C7-FFB7-BB20-BABE-B39973EA78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65F9AE3-70BD-47A8-BEBB-42995681C525}" type="slidenum">
              <a:rPr lang="en-IN" smtClean="0"/>
              <a:t>‹#›</a:t>
            </a:fld>
            <a:endParaRPr lang="en-IN"/>
          </a:p>
        </p:txBody>
      </p:sp>
    </p:spTree>
    <p:extLst>
      <p:ext uri="{BB962C8B-B14F-4D97-AF65-F5344CB8AC3E}">
        <p14:creationId xmlns:p14="http://schemas.microsoft.com/office/powerpoint/2010/main" val="1993912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05F3193-E8DD-18E1-6281-631694319137}"/>
              </a:ext>
            </a:extLst>
          </p:cNvPr>
          <p:cNvGraphicFramePr>
            <a:graphicFrameLocks noGrp="1"/>
          </p:cNvGraphicFramePr>
          <p:nvPr>
            <p:extLst>
              <p:ext uri="{D42A27DB-BD31-4B8C-83A1-F6EECF244321}">
                <p14:modId xmlns:p14="http://schemas.microsoft.com/office/powerpoint/2010/main" val="460390408"/>
              </p:ext>
            </p:extLst>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82B0E6B7-2DC2-E7AC-A20E-7CCB7527E62E}"/>
              </a:ext>
            </a:extLst>
          </p:cNvPr>
          <p:cNvGraphicFramePr>
            <a:graphicFrameLocks noGrp="1"/>
          </p:cNvGraphicFramePr>
          <p:nvPr>
            <p:extLst>
              <p:ext uri="{D42A27DB-BD31-4B8C-83A1-F6EECF244321}">
                <p14:modId xmlns:p14="http://schemas.microsoft.com/office/powerpoint/2010/main" val="3389153300"/>
              </p:ext>
            </p:extLst>
          </p:nvPr>
        </p:nvGraphicFramePr>
        <p:xfrm>
          <a:off x="0" y="2538306"/>
          <a:ext cx="12192000" cy="9144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5400" b="1" i="0" u="sng" kern="120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AI RESUME ANALYZER</a:t>
                      </a:r>
                    </a:p>
                  </a:txBody>
                  <a:tcPr anchor="ct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1983332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D1C3D-D448-B39C-7BDA-4B46D6C2F28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9580698-65DF-2DF1-0981-8DFAFA49BCE3}"/>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71FE1544-ACE4-54A2-C1EB-B81657B6FEC0}"/>
              </a:ext>
            </a:extLst>
          </p:cNvPr>
          <p:cNvGraphicFramePr>
            <a:graphicFrameLocks noGrp="1"/>
          </p:cNvGraphicFramePr>
          <p:nvPr>
            <p:extLst>
              <p:ext uri="{D42A27DB-BD31-4B8C-83A1-F6EECF244321}">
                <p14:modId xmlns:p14="http://schemas.microsoft.com/office/powerpoint/2010/main" val="1791829392"/>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600" b="1" i="0" u="sng" kern="120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INDEX</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014C6872-C1E7-9C7F-EB51-268BB42A734C}"/>
              </a:ext>
            </a:extLst>
          </p:cNvPr>
          <p:cNvGraphicFramePr>
            <a:graphicFrameLocks noGrp="1"/>
          </p:cNvGraphicFramePr>
          <p:nvPr>
            <p:extLst>
              <p:ext uri="{D42A27DB-BD31-4B8C-83A1-F6EECF244321}">
                <p14:modId xmlns:p14="http://schemas.microsoft.com/office/powerpoint/2010/main" val="1610583601"/>
              </p:ext>
            </p:extLst>
          </p:nvPr>
        </p:nvGraphicFramePr>
        <p:xfrm>
          <a:off x="0" y="763694"/>
          <a:ext cx="12192000" cy="679704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marL="285750" indent="-285750" algn="l">
                        <a:lnSpc>
                          <a:spcPct val="100000"/>
                        </a:lnSpc>
                        <a:spcBef>
                          <a:spcPts val="600"/>
                        </a:spcBef>
                        <a:buFont typeface="Wingdings" panose="05000000000000000000" pitchFamily="2" charset="2"/>
                        <a:buChar char="Ø"/>
                      </a:pPr>
                      <a:r>
                        <a:rPr lang="en-IN" sz="1800" b="1" i="0" u="none" dirty="0">
                          <a:solidFill>
                            <a:srgbClr val="222222"/>
                          </a:solidFill>
                          <a:effectLst/>
                          <a:latin typeface="Arial" panose="020B0604020202020204" pitchFamily="34" charset="0"/>
                        </a:rPr>
                        <a:t>Introduction</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Problem Statement &amp; Objectives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Existing vs Proposed System</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Technology Stack</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System Architecture</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Workflow</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Project Modules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Algorithm</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Implementation</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Project Output :-</a:t>
                      </a:r>
                    </a:p>
                    <a:p>
                      <a:pPr marL="538163" marR="0" lvl="0" indent="-182563"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IN" sz="1800" b="1" i="0" u="none" dirty="0">
                          <a:solidFill>
                            <a:srgbClr val="222222"/>
                          </a:solidFill>
                          <a:effectLst/>
                          <a:latin typeface="Arial" panose="020B0604020202020204" pitchFamily="34" charset="0"/>
                        </a:rPr>
                        <a:t>Figure-1 (Home Page)</a:t>
                      </a:r>
                    </a:p>
                    <a:p>
                      <a:pPr marL="538163" marR="0" lvl="0" indent="-182563"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IN" sz="1800" b="1" i="0" u="none" dirty="0">
                          <a:solidFill>
                            <a:srgbClr val="222222"/>
                          </a:solidFill>
                          <a:effectLst/>
                          <a:latin typeface="Arial" panose="020B0604020202020204" pitchFamily="34" charset="0"/>
                        </a:rPr>
                        <a:t>Figure-2 (Resume Upload)</a:t>
                      </a:r>
                    </a:p>
                    <a:p>
                      <a:pPr marL="538163" marR="0" lvl="0" indent="-182563"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IN" sz="1800" b="1" i="0" u="none" dirty="0">
                          <a:solidFill>
                            <a:srgbClr val="222222"/>
                          </a:solidFill>
                          <a:effectLst/>
                          <a:latin typeface="Arial" panose="020B0604020202020204" pitchFamily="34" charset="0"/>
                        </a:rPr>
                        <a:t>Figure-3 (Result)</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Results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Advantages &amp; Limitations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Future Scope</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lang="en-IN" sz="1800" b="1" i="0" u="none" dirty="0">
                          <a:solidFill>
                            <a:srgbClr val="222222"/>
                          </a:solidFill>
                          <a:effectLst/>
                          <a:latin typeface="Arial" panose="020B0604020202020204" pitchFamily="34" charset="0"/>
                        </a:rPr>
                        <a:t>Conclusion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1" i="0" u="sng" dirty="0">
                        <a:solidFill>
                          <a:srgbClr val="222222"/>
                        </a:solidFill>
                        <a:effectLst>
                          <a:outerShdw blurRad="38100" dist="38100" dir="2700000" algn="tl">
                            <a:srgbClr val="000000">
                              <a:alpha val="43137"/>
                            </a:srgbClr>
                          </a:outerShdw>
                        </a:effectLst>
                        <a:latin typeface="Arial" panose="020B0604020202020204" pitchFamily="34" charset="0"/>
                      </a:endParaRPr>
                    </a:p>
                    <a:p>
                      <a:pPr algn="l">
                        <a:lnSpc>
                          <a:spcPct val="100000"/>
                        </a:lnSpc>
                      </a:pPr>
                      <a:endParaRPr lang="en-IN" sz="1800" b="1" i="0" u="sng" dirty="0">
                        <a:solidFill>
                          <a:srgbClr val="222222"/>
                        </a:solidFill>
                        <a:effectLst>
                          <a:outerShdw blurRad="38100" dist="38100" dir="2700000" algn="tl">
                            <a:srgbClr val="000000">
                              <a:alpha val="43137"/>
                            </a:srgbClr>
                          </a:outerShdw>
                        </a:effectLst>
                        <a:latin typeface="Arial" panose="020B0604020202020204" pitchFamily="34" charset="0"/>
                      </a:endParaRPr>
                    </a:p>
                    <a:p>
                      <a:pPr algn="l"/>
                      <a:endParaRPr lang="en-IN"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1768564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1778-0FCE-8826-A896-6D3AD2EF11E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1F44FF8-A447-5F51-F67F-7590BE023CC2}"/>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32B194DB-9389-609D-4914-8A85B6CE6241}"/>
              </a:ext>
            </a:extLst>
          </p:cNvPr>
          <p:cNvGraphicFramePr>
            <a:graphicFrameLocks noGrp="1"/>
          </p:cNvGraphicFramePr>
          <p:nvPr>
            <p:extLst>
              <p:ext uri="{D42A27DB-BD31-4B8C-83A1-F6EECF244321}">
                <p14:modId xmlns:p14="http://schemas.microsoft.com/office/powerpoint/2010/main" val="1325009208"/>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600" b="1" i="0" u="sng" kern="1200" dirty="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AI RESUME ANALYZER</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1EABA95D-671D-123E-CD4D-339AD8E3E477}"/>
              </a:ext>
            </a:extLst>
          </p:cNvPr>
          <p:cNvGraphicFramePr>
            <a:graphicFrameLocks noGrp="1"/>
          </p:cNvGraphicFramePr>
          <p:nvPr/>
        </p:nvGraphicFramePr>
        <p:xfrm>
          <a:off x="0" y="763694"/>
          <a:ext cx="12192000" cy="615696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algn="ctr"/>
                      <a:endParaRPr lang="en-IN" sz="14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Submitted By</a:t>
                      </a:r>
                    </a:p>
                    <a:p>
                      <a:pPr algn="ctr"/>
                      <a:r>
                        <a:rPr lang="en-IN" sz="2200" kern="1200" dirty="0">
                          <a:solidFill>
                            <a:schemeClr val="tx1"/>
                          </a:solidFill>
                          <a:effectLst/>
                          <a:latin typeface="Arial" panose="020B0604020202020204" pitchFamily="34" charset="0"/>
                          <a:ea typeface="+mn-ea"/>
                          <a:cs typeface="Arial" panose="020B0604020202020204" pitchFamily="34" charset="0"/>
                        </a:rPr>
                        <a:t>Preeti</a:t>
                      </a:r>
                    </a:p>
                    <a:p>
                      <a:pPr algn="ctr"/>
                      <a:endParaRPr lang="en-IN" sz="16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Roll No</a:t>
                      </a:r>
                    </a:p>
                    <a:p>
                      <a:pPr algn="ctr"/>
                      <a:r>
                        <a:rPr lang="en-IN" sz="2200" kern="1200" dirty="0">
                          <a:solidFill>
                            <a:schemeClr val="tx1"/>
                          </a:solidFill>
                          <a:effectLst/>
                          <a:latin typeface="Arial" panose="020B0604020202020204" pitchFamily="34" charset="0"/>
                          <a:ea typeface="+mn-ea"/>
                          <a:cs typeface="Arial" panose="020B0604020202020204" pitchFamily="34" charset="0"/>
                        </a:rPr>
                        <a:t>301311323089</a:t>
                      </a:r>
                    </a:p>
                    <a:p>
                      <a:pPr algn="ctr"/>
                      <a:endParaRPr lang="en-IN" sz="16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Department</a:t>
                      </a:r>
                    </a:p>
                    <a:p>
                      <a:pPr algn="ctr"/>
                      <a:r>
                        <a:rPr lang="en-IN" sz="2200" kern="1200" dirty="0">
                          <a:solidFill>
                            <a:schemeClr val="tx1"/>
                          </a:solidFill>
                          <a:effectLst/>
                          <a:latin typeface="Arial" panose="020B0604020202020204" pitchFamily="34" charset="0"/>
                          <a:ea typeface="+mn-ea"/>
                          <a:cs typeface="Arial" panose="020B0604020202020204" pitchFamily="34" charset="0"/>
                        </a:rPr>
                        <a:t>Computer Science and Engineering </a:t>
                      </a:r>
                    </a:p>
                    <a:p>
                      <a:pPr algn="ctr"/>
                      <a:r>
                        <a:rPr lang="en-IN" sz="2200" kern="1200" dirty="0">
                          <a:solidFill>
                            <a:schemeClr val="tx1"/>
                          </a:solidFill>
                          <a:effectLst/>
                          <a:latin typeface="Arial" panose="020B0604020202020204" pitchFamily="34" charset="0"/>
                          <a:ea typeface="+mn-ea"/>
                          <a:cs typeface="Arial" panose="020B0604020202020204" pitchFamily="34" charset="0"/>
                        </a:rPr>
                        <a:t>(Artificial Intelligence)</a:t>
                      </a:r>
                    </a:p>
                    <a:p>
                      <a:pPr algn="ctr"/>
                      <a:endParaRPr lang="en-IN" sz="16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College</a:t>
                      </a:r>
                    </a:p>
                    <a:p>
                      <a:pPr algn="ctr"/>
                      <a:r>
                        <a:rPr lang="en-IN" sz="2200" kern="1200" dirty="0">
                          <a:solidFill>
                            <a:schemeClr val="tx1"/>
                          </a:solidFill>
                          <a:effectLst/>
                          <a:latin typeface="Arial" panose="020B0604020202020204" pitchFamily="34" charset="0"/>
                          <a:ea typeface="+mn-ea"/>
                          <a:cs typeface="Arial" panose="020B0604020202020204" pitchFamily="34" charset="0"/>
                        </a:rPr>
                        <a:t>Rungta College of Engineering &amp; Technology, </a:t>
                      </a:r>
                      <a:r>
                        <a:rPr lang="en-IN" sz="2200" kern="1200" dirty="0" err="1">
                          <a:solidFill>
                            <a:schemeClr val="tx1"/>
                          </a:solidFill>
                          <a:effectLst/>
                          <a:latin typeface="Arial" panose="020B0604020202020204" pitchFamily="34" charset="0"/>
                          <a:ea typeface="+mn-ea"/>
                          <a:cs typeface="Arial" panose="020B0604020202020204" pitchFamily="34" charset="0"/>
                        </a:rPr>
                        <a:t>Bhilai</a:t>
                      </a:r>
                      <a:endParaRPr lang="en-IN" sz="2200" kern="1200" dirty="0">
                        <a:solidFill>
                          <a:schemeClr val="tx1"/>
                        </a:solidFill>
                        <a:effectLst/>
                        <a:latin typeface="Arial" panose="020B0604020202020204" pitchFamily="34" charset="0"/>
                        <a:ea typeface="+mn-ea"/>
                        <a:cs typeface="Arial" panose="020B0604020202020204" pitchFamily="34" charset="0"/>
                      </a:endParaRPr>
                    </a:p>
                    <a:p>
                      <a:pPr algn="ctr"/>
                      <a:endParaRPr lang="en-IN" sz="16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Academic</a:t>
                      </a:r>
                      <a:r>
                        <a:rPr lang="en-IN" sz="2200" kern="1200" dirty="0">
                          <a:solidFill>
                            <a:schemeClr val="tx1"/>
                          </a:solidFill>
                          <a:effectLst/>
                          <a:latin typeface="Arial" panose="020B0604020202020204" pitchFamily="34" charset="0"/>
                          <a:ea typeface="+mn-ea"/>
                          <a:cs typeface="Arial" panose="020B0604020202020204" pitchFamily="34" charset="0"/>
                        </a:rPr>
                        <a:t> </a:t>
                      </a:r>
                      <a:r>
                        <a:rPr lang="en-IN" sz="2200" b="1" kern="1200" dirty="0">
                          <a:solidFill>
                            <a:schemeClr val="tx1"/>
                          </a:solidFill>
                          <a:effectLst/>
                          <a:latin typeface="Arial" panose="020B0604020202020204" pitchFamily="34" charset="0"/>
                          <a:ea typeface="+mn-ea"/>
                          <a:cs typeface="Arial" panose="020B0604020202020204" pitchFamily="34" charset="0"/>
                        </a:rPr>
                        <a:t>Session</a:t>
                      </a:r>
                    </a:p>
                    <a:p>
                      <a:pPr algn="ctr"/>
                      <a:r>
                        <a:rPr lang="en-IN" sz="2200" kern="1200" dirty="0">
                          <a:solidFill>
                            <a:schemeClr val="tx1"/>
                          </a:solidFill>
                          <a:effectLst/>
                          <a:latin typeface="Arial" panose="020B0604020202020204" pitchFamily="34" charset="0"/>
                          <a:ea typeface="+mn-ea"/>
                          <a:cs typeface="Arial" panose="020B0604020202020204" pitchFamily="34" charset="0"/>
                        </a:rPr>
                        <a:t>2025–2026</a:t>
                      </a:r>
                    </a:p>
                    <a:p>
                      <a:pPr algn="ctr"/>
                      <a:endParaRPr lang="en-IN" sz="1600" kern="1200" dirty="0">
                        <a:solidFill>
                          <a:schemeClr val="tx1"/>
                        </a:solidFill>
                        <a:effectLst/>
                        <a:latin typeface="Arial" panose="020B0604020202020204" pitchFamily="34" charset="0"/>
                        <a:ea typeface="+mn-ea"/>
                        <a:cs typeface="Arial" panose="020B0604020202020204" pitchFamily="34" charset="0"/>
                      </a:endParaRPr>
                    </a:p>
                    <a:p>
                      <a:pPr algn="ctr"/>
                      <a:r>
                        <a:rPr lang="en-IN" sz="2200" b="1" kern="1200" dirty="0">
                          <a:solidFill>
                            <a:schemeClr val="tx1"/>
                          </a:solidFill>
                          <a:effectLst/>
                          <a:latin typeface="Arial" panose="020B0604020202020204" pitchFamily="34" charset="0"/>
                          <a:ea typeface="+mn-ea"/>
                          <a:cs typeface="Arial" panose="020B0604020202020204" pitchFamily="34" charset="0"/>
                        </a:rPr>
                        <a:t>Guide</a:t>
                      </a:r>
                    </a:p>
                    <a:p>
                      <a:pPr algn="ctr"/>
                      <a:r>
                        <a:rPr lang="en-IN" sz="2200" kern="1200" dirty="0">
                          <a:solidFill>
                            <a:schemeClr val="tx1"/>
                          </a:solidFill>
                          <a:effectLst/>
                          <a:latin typeface="Arial" panose="020B0604020202020204" pitchFamily="34" charset="0"/>
                          <a:ea typeface="+mn-ea"/>
                          <a:cs typeface="Arial" panose="020B0604020202020204" pitchFamily="34" charset="0"/>
                        </a:rPr>
                        <a:t>Mr. Kailash Kumar Patel</a:t>
                      </a:r>
                    </a:p>
                    <a:p>
                      <a:endParaRPr lang="en-IN"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604099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F87A-7447-0568-DBD6-ACF1E240876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A790C69-5801-B295-00B4-CC9310093281}"/>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3A7DE84B-3595-CBCB-4FF1-6D8C3FEB7312}"/>
              </a:ext>
            </a:extLst>
          </p:cNvPr>
          <p:cNvGraphicFramePr>
            <a:graphicFrameLocks noGrp="1"/>
          </p:cNvGraphicFramePr>
          <p:nvPr>
            <p:extLst>
              <p:ext uri="{D42A27DB-BD31-4B8C-83A1-F6EECF244321}">
                <p14:modId xmlns:p14="http://schemas.microsoft.com/office/powerpoint/2010/main" val="1858424412"/>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INTRODUCTION</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AE5AD9AB-C173-44C1-4979-19F5C49F6182}"/>
              </a:ext>
            </a:extLst>
          </p:cNvPr>
          <p:cNvGraphicFramePr>
            <a:graphicFrameLocks noGrp="1"/>
          </p:cNvGraphicFramePr>
          <p:nvPr>
            <p:extLst>
              <p:ext uri="{D42A27DB-BD31-4B8C-83A1-F6EECF244321}">
                <p14:modId xmlns:p14="http://schemas.microsoft.com/office/powerpoint/2010/main" val="2344540547"/>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algn="ctr"/>
                      <a:endParaRPr lang="en-IN" sz="1400" b="1" kern="1200" dirty="0">
                        <a:solidFill>
                          <a:schemeClr val="tx1"/>
                        </a:solidFill>
                        <a:effectLst/>
                        <a:latin typeface="Arial" panose="020B0604020202020204" pitchFamily="34" charset="0"/>
                        <a:ea typeface="+mn-ea"/>
                        <a:cs typeface="Arial" panose="020B0604020202020204" pitchFamily="34" charset="0"/>
                      </a:endParaRPr>
                    </a:p>
                    <a:p>
                      <a:pPr marL="142875" indent="0" algn="l">
                        <a:buFont typeface="Arial" panose="020B0604020202020204" pitchFamily="34" charset="0"/>
                        <a:buChar char="•"/>
                      </a:pPr>
                      <a:r>
                        <a:rPr lang="en-IN" sz="2000" b="1" i="0" dirty="0">
                          <a:solidFill>
                            <a:srgbClr val="222222"/>
                          </a:solidFill>
                          <a:effectLst/>
                          <a:latin typeface="Arial" panose="020B0604020202020204" pitchFamily="34" charset="0"/>
                        </a:rPr>
                        <a:t>	Recruitment process is time-consuming.</a:t>
                      </a:r>
                    </a:p>
                    <a:p>
                      <a:pPr marL="142875" indent="0" algn="l">
                        <a:buFont typeface="Arial" panose="020B0604020202020204" pitchFamily="34" charset="0"/>
                        <a:buChar char="•"/>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1" i="0" dirty="0">
                          <a:solidFill>
                            <a:srgbClr val="222222"/>
                          </a:solidFill>
                          <a:effectLst/>
                          <a:latin typeface="Arial" panose="020B0604020202020204" pitchFamily="34" charset="0"/>
                        </a:rPr>
                        <a:t>	Companies receive many resumes.</a:t>
                      </a:r>
                    </a:p>
                    <a:p>
                      <a:pPr marL="142875" indent="0" algn="l">
                        <a:buFont typeface="Arial" panose="020B0604020202020204" pitchFamily="34" charset="0"/>
                        <a:buChar char="•"/>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1" i="0" dirty="0">
                          <a:solidFill>
                            <a:srgbClr val="222222"/>
                          </a:solidFill>
                          <a:effectLst/>
                          <a:latin typeface="Arial" panose="020B0604020202020204" pitchFamily="34" charset="0"/>
                        </a:rPr>
                        <a:t>	Manual screening is slow.</a:t>
                      </a:r>
                    </a:p>
                    <a:p>
                      <a:pPr marL="142875" indent="0" algn="l">
                        <a:buFont typeface="Arial" panose="020B0604020202020204" pitchFamily="34" charset="0"/>
                        <a:buChar char="•"/>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1" i="0" dirty="0">
                          <a:solidFill>
                            <a:srgbClr val="222222"/>
                          </a:solidFill>
                          <a:effectLst/>
                          <a:latin typeface="Arial" panose="020B0604020202020204" pitchFamily="34" charset="0"/>
                        </a:rPr>
                        <a:t>	AI Resume Analyzer automates resume analysis.</a:t>
                      </a:r>
                    </a:p>
                    <a:p>
                      <a:endParaRPr lang="en-IN"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2418897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BCBC-83A0-B055-6D16-D7FB414EA24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832AB7-C159-57AA-9D49-41F6DB6227B1}"/>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A5CFEDE7-8C3F-6B4D-8A47-151788172848}"/>
              </a:ext>
            </a:extLst>
          </p:cNvPr>
          <p:cNvGraphicFramePr>
            <a:graphicFrameLocks noGrp="1"/>
          </p:cNvGraphicFramePr>
          <p:nvPr>
            <p:extLst>
              <p:ext uri="{D42A27DB-BD31-4B8C-83A1-F6EECF244321}">
                <p14:modId xmlns:p14="http://schemas.microsoft.com/office/powerpoint/2010/main" val="796570201"/>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PROBLEM STATEMENT &amp; OBJECTIVES</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2CE8012C-F183-9E18-6E34-C81A25F61473}"/>
              </a:ext>
            </a:extLst>
          </p:cNvPr>
          <p:cNvGraphicFramePr>
            <a:graphicFrameLocks noGrp="1"/>
          </p:cNvGraphicFramePr>
          <p:nvPr>
            <p:extLst>
              <p:ext uri="{D42A27DB-BD31-4B8C-83A1-F6EECF244321}">
                <p14:modId xmlns:p14="http://schemas.microsoft.com/office/powerpoint/2010/main" val="2082739768"/>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buNone/>
                      </a:pPr>
                      <a:endParaRPr lang="en-IN" sz="1600" b="1" i="0" u="sng" dirty="0">
                        <a:solidFill>
                          <a:srgbClr val="222222"/>
                        </a:solidFill>
                        <a:effectLst/>
                        <a:latin typeface="Arial" panose="020B0604020202020204" pitchFamily="34" charset="0"/>
                      </a:endParaRPr>
                    </a:p>
                    <a:p>
                      <a:pPr indent="0" algn="l">
                        <a:buNone/>
                      </a:pPr>
                      <a:r>
                        <a:rPr lang="en-IN" sz="2000" b="1" i="0" u="none" dirty="0">
                          <a:solidFill>
                            <a:srgbClr val="222222"/>
                          </a:solidFill>
                          <a:effectLst/>
                          <a:latin typeface="Arial" panose="020B0604020202020204" pitchFamily="34" charset="0"/>
                        </a:rPr>
                        <a:t>  </a:t>
                      </a:r>
                      <a:r>
                        <a:rPr lang="en-IN" sz="2000" b="1" i="0" u="sng" dirty="0">
                          <a:solidFill>
                            <a:srgbClr val="222222"/>
                          </a:solidFill>
                          <a:effectLst/>
                          <a:latin typeface="Arial" panose="020B0604020202020204" pitchFamily="34" charset="0"/>
                        </a:rPr>
                        <a:t>PROBLEM STATEMENT</a:t>
                      </a:r>
                    </a:p>
                    <a:p>
                      <a:pPr indent="0" algn="l">
                        <a:buNone/>
                      </a:pPr>
                      <a:endParaRPr lang="en-IN" sz="16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Manual screening</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Time consuming</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Human errors</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No automatic scoring</a:t>
                      </a:r>
                    </a:p>
                    <a:p>
                      <a:pPr marL="142875" indent="0" algn="l">
                        <a:buFont typeface="Arial" panose="020B0604020202020204" pitchFamily="34" charset="0"/>
                        <a:buNone/>
                      </a:pPr>
                      <a:endParaRPr lang="en-IN" sz="1600" b="0" i="0" u="none" dirty="0">
                        <a:solidFill>
                          <a:srgbClr val="222222"/>
                        </a:solidFill>
                        <a:effectLst/>
                        <a:latin typeface="Arial" panose="020B0604020202020204" pitchFamily="34" charset="0"/>
                      </a:endParaRPr>
                    </a:p>
                    <a:p>
                      <a:pPr marL="142875" indent="0" algn="l">
                        <a:buFont typeface="Arial" panose="020B0604020202020204" pitchFamily="34" charset="0"/>
                        <a:buNone/>
                      </a:pPr>
                      <a:r>
                        <a:rPr lang="en-IN" sz="2000" b="1" i="0" u="sng" dirty="0">
                          <a:solidFill>
                            <a:srgbClr val="222222"/>
                          </a:solidFill>
                          <a:effectLst/>
                          <a:latin typeface="Arial" panose="020B0604020202020204" pitchFamily="34" charset="0"/>
                        </a:rPr>
                        <a:t>OBJECTIVES</a:t>
                      </a:r>
                    </a:p>
                    <a:p>
                      <a:pPr marL="142875" indent="0" algn="l">
                        <a:buFont typeface="Arial" panose="020B0604020202020204" pitchFamily="34" charset="0"/>
                        <a:buNone/>
                      </a:pPr>
                      <a:endParaRPr lang="en-IN" sz="16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Resume Upload</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Skill Detection</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Job Description Matching</a:t>
                      </a:r>
                    </a:p>
                    <a:p>
                      <a:pPr marL="142875" indent="0" algn="l">
                        <a:buFont typeface="Arial" panose="020B0604020202020204" pitchFamily="34" charset="0"/>
                        <a:buNone/>
                      </a:pPr>
                      <a:endParaRPr lang="en-IN" sz="16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Match Score Generation</a:t>
                      </a:r>
                    </a:p>
                    <a:p>
                      <a:endParaRPr lang="en-IN" sz="2000"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39717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72A4-6809-636A-4695-006C0119601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7F236B1-8BFD-872F-7FC3-98D39563F191}"/>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CEA6469A-D22C-C7BC-BD88-22D58315E9AE}"/>
              </a:ext>
            </a:extLst>
          </p:cNvPr>
          <p:cNvGraphicFramePr>
            <a:graphicFrameLocks noGrp="1"/>
          </p:cNvGraphicFramePr>
          <p:nvPr>
            <p:extLst>
              <p:ext uri="{D42A27DB-BD31-4B8C-83A1-F6EECF244321}">
                <p14:modId xmlns:p14="http://schemas.microsoft.com/office/powerpoint/2010/main" val="4248590492"/>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EXISTING VS PROPOSED SYSTEM</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2D3CAA19-8248-C6EC-89EB-14A034C3BFC8}"/>
              </a:ext>
            </a:extLst>
          </p:cNvPr>
          <p:cNvGraphicFramePr>
            <a:graphicFrameLocks noGrp="1"/>
          </p:cNvGraphicFramePr>
          <p:nvPr>
            <p:extLst>
              <p:ext uri="{D42A27DB-BD31-4B8C-83A1-F6EECF244321}">
                <p14:modId xmlns:p14="http://schemas.microsoft.com/office/powerpoint/2010/main" val="1175137459"/>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buNone/>
                      </a:pPr>
                      <a:endParaRPr lang="en-IN" sz="2000" b="1" i="0" dirty="0">
                        <a:solidFill>
                          <a:srgbClr val="222222"/>
                        </a:solidFill>
                        <a:effectLst/>
                        <a:latin typeface="Arial" panose="020B0604020202020204" pitchFamily="34" charset="0"/>
                      </a:endParaRPr>
                    </a:p>
                    <a:p>
                      <a:pPr indent="0" algn="l">
                        <a:buNone/>
                      </a:pPr>
                      <a:r>
                        <a:rPr lang="en-IN" sz="2000" b="1" i="0" u="sng" dirty="0">
                          <a:solidFill>
                            <a:srgbClr val="222222"/>
                          </a:solidFill>
                          <a:effectLst/>
                          <a:latin typeface="Arial" panose="020B0604020202020204" pitchFamily="34" charset="0"/>
                        </a:rPr>
                        <a:t>EXISTING SYSTEM</a:t>
                      </a:r>
                    </a:p>
                    <a:p>
                      <a:pPr indent="0" algn="l">
                        <a:buNone/>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Manual Resume Screening</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Slow Process</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Human Errors</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indent="0" algn="l">
                        <a:buNone/>
                      </a:pPr>
                      <a:r>
                        <a:rPr lang="en-IN" sz="2000" b="1" i="0" u="sng" dirty="0">
                          <a:solidFill>
                            <a:srgbClr val="222222"/>
                          </a:solidFill>
                          <a:effectLst/>
                          <a:latin typeface="Arial" panose="020B0604020202020204" pitchFamily="34" charset="0"/>
                        </a:rPr>
                        <a:t>PROPOSED SYSTEM</a:t>
                      </a:r>
                    </a:p>
                    <a:p>
                      <a:pPr indent="0" algn="l">
                        <a:buNone/>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AI Resume Analyzer</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Automatic Skill Detection</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Resume Matching</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Match Score</a:t>
                      </a:r>
                    </a:p>
                    <a:p>
                      <a:endParaRPr lang="en-IN" sz="2000"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2233022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470B-FB13-84CE-963B-E4E162F732F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28526C4-468D-6623-88AB-F9F0F9231780}"/>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BE4DC626-87CB-649D-70C3-616C761D62E3}"/>
              </a:ext>
            </a:extLst>
          </p:cNvPr>
          <p:cNvGraphicFramePr>
            <a:graphicFrameLocks noGrp="1"/>
          </p:cNvGraphicFramePr>
          <p:nvPr>
            <p:extLst>
              <p:ext uri="{D42A27DB-BD31-4B8C-83A1-F6EECF244321}">
                <p14:modId xmlns:p14="http://schemas.microsoft.com/office/powerpoint/2010/main" val="476316543"/>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TECHNOLOGY STACK</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graphicFrame>
        <p:nvGraphicFramePr>
          <p:cNvPr id="2" name="Table 1">
            <a:extLst>
              <a:ext uri="{FF2B5EF4-FFF2-40B4-BE49-F238E27FC236}">
                <a16:creationId xmlns:a16="http://schemas.microsoft.com/office/drawing/2014/main" id="{3DC3DE4A-AB29-A99E-38BE-112E624801B0}"/>
              </a:ext>
            </a:extLst>
          </p:cNvPr>
          <p:cNvGraphicFramePr>
            <a:graphicFrameLocks noGrp="1"/>
          </p:cNvGraphicFramePr>
          <p:nvPr>
            <p:extLst>
              <p:ext uri="{D42A27DB-BD31-4B8C-83A1-F6EECF244321}">
                <p14:modId xmlns:p14="http://schemas.microsoft.com/office/powerpoint/2010/main" val="320469036"/>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buNone/>
                      </a:pPr>
                      <a:endParaRPr lang="en-IN" sz="2000" b="1"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Python</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Flask</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HTML</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CSS</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PyPDF2</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VS Code</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marL="142875" indent="0" algn="l">
                        <a:buFont typeface="Arial" panose="020B0604020202020204" pitchFamily="34" charset="0"/>
                        <a:buChar char="•"/>
                      </a:pPr>
                      <a:r>
                        <a:rPr lang="en-IN" sz="2000" b="0" i="0" dirty="0">
                          <a:solidFill>
                            <a:srgbClr val="222222"/>
                          </a:solidFill>
                          <a:effectLst/>
                          <a:latin typeface="Arial" panose="020B0604020202020204" pitchFamily="34" charset="0"/>
                        </a:rPr>
                        <a:t> GitHub</a:t>
                      </a:r>
                    </a:p>
                    <a:p>
                      <a:endParaRPr lang="en-IN" sz="2000" dirty="0"/>
                    </a:p>
                  </a:txBody>
                  <a:tcPr/>
                </a:tc>
                <a:extLst>
                  <a:ext uri="{0D108BD9-81ED-4DB2-BD59-A6C34878D82A}">
                    <a16:rowId xmlns:a16="http://schemas.microsoft.com/office/drawing/2014/main" val="1773416611"/>
                  </a:ext>
                </a:extLst>
              </a:tr>
            </a:tbl>
          </a:graphicData>
        </a:graphic>
      </p:graphicFrame>
    </p:spTree>
    <p:extLst>
      <p:ext uri="{BB962C8B-B14F-4D97-AF65-F5344CB8AC3E}">
        <p14:creationId xmlns:p14="http://schemas.microsoft.com/office/powerpoint/2010/main" val="804736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8D39E-DDE8-1C68-6D7B-D4F59956B1A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871CAE0-6853-AFC9-666A-B7D32D2B152B}"/>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93D1E446-BA46-812D-BF20-C939D71E1D0B}"/>
              </a:ext>
            </a:extLst>
          </p:cNvPr>
          <p:cNvGraphicFramePr>
            <a:graphicFrameLocks noGrp="1"/>
          </p:cNvGraphicFramePr>
          <p:nvPr>
            <p:extLst>
              <p:ext uri="{D42A27DB-BD31-4B8C-83A1-F6EECF244321}">
                <p14:modId xmlns:p14="http://schemas.microsoft.com/office/powerpoint/2010/main" val="1626420175"/>
              </p:ext>
            </p:extLst>
          </p:nvPr>
        </p:nvGraphicFramePr>
        <p:xfrm>
          <a:off x="0" y="763694"/>
          <a:ext cx="12192000" cy="619506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ctr">
                        <a:buNone/>
                      </a:pPr>
                      <a:endParaRPr lang="en-IN" sz="1050" b="1" i="0" dirty="0">
                        <a:solidFill>
                          <a:srgbClr val="222222"/>
                        </a:solidFill>
                        <a:effectLst/>
                        <a:latin typeface="Arial" panose="020B0604020202020204" pitchFamily="34" charset="0"/>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User</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Upload Resume</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Text Extraction</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Skill Detection</a:t>
                      </a:r>
                    </a:p>
                    <a:p>
                      <a:pPr algn="ctr">
                        <a:lnSpc>
                          <a:spcPct val="100000"/>
                        </a:lnSpc>
                      </a:pPr>
                      <a:endParaRPr lang="en-IN" sz="10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Job Description Matching</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Match Score</a:t>
                      </a:r>
                    </a:p>
                    <a:p>
                      <a:pPr algn="ctr">
                        <a:lnSpc>
                          <a:spcPct val="100000"/>
                        </a:lnSpc>
                      </a:pPr>
                      <a:endParaRPr lang="en-IN" sz="10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a:t>
                      </a:r>
                    </a:p>
                    <a:p>
                      <a:pPr algn="ctr">
                        <a:lnSpc>
                          <a:spcPct val="100000"/>
                        </a:lnSpc>
                      </a:pPr>
                      <a:endParaRPr lang="en-IN" sz="900" b="0" i="0" kern="1200" dirty="0">
                        <a:solidFill>
                          <a:schemeClr val="tx1"/>
                        </a:solidFill>
                        <a:effectLst/>
                        <a:latin typeface="Arial" panose="020B0604020202020204" pitchFamily="34" charset="0"/>
                        <a:ea typeface="+mn-ea"/>
                        <a:cs typeface="Arial" panose="020B0604020202020204" pitchFamily="34" charset="0"/>
                      </a:endParaRPr>
                    </a:p>
                    <a:p>
                      <a:pPr algn="ctr">
                        <a:lnSpc>
                          <a:spcPct val="100000"/>
                        </a:lnSpc>
                      </a:pPr>
                      <a:r>
                        <a:rPr lang="en-IN" sz="2000" b="0" i="0" kern="1200" dirty="0">
                          <a:solidFill>
                            <a:schemeClr val="tx1"/>
                          </a:solidFill>
                          <a:effectLst/>
                          <a:latin typeface="Arial" panose="020B0604020202020204" pitchFamily="34" charset="0"/>
                          <a:ea typeface="+mn-ea"/>
                          <a:cs typeface="Arial" panose="020B0604020202020204" pitchFamily="34" charset="0"/>
                        </a:rPr>
                        <a:t>Result</a:t>
                      </a:r>
                    </a:p>
                    <a:p>
                      <a:pPr marL="142875" indent="0" algn="ctr">
                        <a:buFont typeface="Arial" panose="020B0604020202020204" pitchFamily="34" charset="0"/>
                        <a:buNone/>
                      </a:pPr>
                      <a:endParaRPr lang="en-IN" sz="2000" b="0" i="0"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4AA2B0B8-F3D1-D59F-357C-0810A15643CD}"/>
              </a:ext>
            </a:extLst>
          </p:cNvPr>
          <p:cNvGraphicFramePr>
            <a:graphicFrameLocks noGrp="1"/>
          </p:cNvGraphicFramePr>
          <p:nvPr>
            <p:extLst>
              <p:ext uri="{D42A27DB-BD31-4B8C-83A1-F6EECF244321}">
                <p14:modId xmlns:p14="http://schemas.microsoft.com/office/powerpoint/2010/main" val="3003268828"/>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SYSTEM ARCHITECTURE</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963775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3AE0-28DA-BBF1-0A0F-AC07328946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A7047D3-E622-D1C8-CEEC-687FBF2ABFD1}"/>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B40ECE95-27F8-E791-2757-AA32DF50E612}"/>
              </a:ext>
            </a:extLst>
          </p:cNvPr>
          <p:cNvGraphicFramePr>
            <a:graphicFrameLocks noGrp="1"/>
          </p:cNvGraphicFramePr>
          <p:nvPr>
            <p:extLst>
              <p:ext uri="{D42A27DB-BD31-4B8C-83A1-F6EECF244321}">
                <p14:modId xmlns:p14="http://schemas.microsoft.com/office/powerpoint/2010/main" val="2295333784"/>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Upload Resume</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Extract Text</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Detect Skills</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Enter Job Description</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Compare Skills</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Generate Match Score</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Display Result</a:t>
                      </a:r>
                    </a:p>
                    <a:p>
                      <a:pPr indent="0" algn="ctr">
                        <a:buNone/>
                      </a:pPr>
                      <a:endParaRPr lang="en-IN" sz="1050" b="1" i="0"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69F868D6-460A-29C9-4926-E957164DA237}"/>
              </a:ext>
            </a:extLst>
          </p:cNvPr>
          <p:cNvGraphicFramePr>
            <a:graphicFrameLocks noGrp="1"/>
          </p:cNvGraphicFramePr>
          <p:nvPr>
            <p:extLst>
              <p:ext uri="{D42A27DB-BD31-4B8C-83A1-F6EECF244321}">
                <p14:modId xmlns:p14="http://schemas.microsoft.com/office/powerpoint/2010/main" val="420404245"/>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WORKFLOW</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2808344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4206-19D5-3997-56F2-A6455BEDDFD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7CAE686-B97B-F0D3-55A4-114F01B817A8}"/>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AE046775-0E22-3C61-DD14-865CC156ADC4}"/>
              </a:ext>
            </a:extLst>
          </p:cNvPr>
          <p:cNvGraphicFramePr>
            <a:graphicFrameLocks noGrp="1"/>
          </p:cNvGraphicFramePr>
          <p:nvPr>
            <p:extLst>
              <p:ext uri="{D42A27DB-BD31-4B8C-83A1-F6EECF244321}">
                <p14:modId xmlns:p14="http://schemas.microsoft.com/office/powerpoint/2010/main" val="3240122340"/>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Resume Upload Module</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Text Extraction Module</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Skill Detection Module</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Job Description Module</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Result Module</a:t>
                      </a:r>
                    </a:p>
                    <a:p>
                      <a:pPr indent="0" algn="ctr">
                        <a:lnSpc>
                          <a:spcPct val="200000"/>
                        </a:lnSpc>
                        <a:buNone/>
                      </a:pPr>
                      <a:endParaRPr lang="en-IN" sz="2000" b="1" i="0"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DEB0C3C1-1D9C-3060-F583-5FC9E3920594}"/>
              </a:ext>
            </a:extLst>
          </p:cNvPr>
          <p:cNvGraphicFramePr>
            <a:graphicFrameLocks noGrp="1"/>
          </p:cNvGraphicFramePr>
          <p:nvPr>
            <p:extLst>
              <p:ext uri="{D42A27DB-BD31-4B8C-83A1-F6EECF244321}">
                <p14:modId xmlns:p14="http://schemas.microsoft.com/office/powerpoint/2010/main" val="2788034821"/>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PROJECT MODULES</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272965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77B9F-06EA-AF24-122A-EBAE7BE9735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6190F44-19B1-111B-6068-61CAD24806CB}"/>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08E2E3A1-293E-DA23-31A5-DB52FEF2F3DD}"/>
              </a:ext>
            </a:extLst>
          </p:cNvPr>
          <p:cNvGraphicFramePr>
            <a:graphicFrameLocks noGrp="1"/>
          </p:cNvGraphicFramePr>
          <p:nvPr>
            <p:extLst>
              <p:ext uri="{D42A27DB-BD31-4B8C-83A1-F6EECF244321}">
                <p14:modId xmlns:p14="http://schemas.microsoft.com/office/powerpoint/2010/main" val="1011594533"/>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Upload Resume</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Read PDF</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Extract Text</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Identify Skills</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Compare with Job Description</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Calculate Match Score</a:t>
                      </a:r>
                    </a:p>
                    <a:p>
                      <a:pPr marL="485775" indent="-34290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Display Result</a:t>
                      </a:r>
                    </a:p>
                    <a:p>
                      <a:pPr indent="0" algn="ctr">
                        <a:lnSpc>
                          <a:spcPct val="200000"/>
                        </a:lnSpc>
                        <a:buNone/>
                      </a:pPr>
                      <a:endParaRPr lang="en-IN" sz="2000" b="1" i="0"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FE5FC48C-0BAB-570F-A364-59FC44F793A9}"/>
              </a:ext>
            </a:extLst>
          </p:cNvPr>
          <p:cNvGraphicFramePr>
            <a:graphicFrameLocks noGrp="1"/>
          </p:cNvGraphicFramePr>
          <p:nvPr>
            <p:extLst>
              <p:ext uri="{D42A27DB-BD31-4B8C-83A1-F6EECF244321}">
                <p14:modId xmlns:p14="http://schemas.microsoft.com/office/powerpoint/2010/main" val="4099343180"/>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ALGORITHM</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1559311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E7CB9-6284-289E-C59B-5023911E727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C57949F-C2BD-CF5C-C730-BDC62575F4B7}"/>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26BF73D3-BDD4-AA42-97C5-8C300BD6AAD2}"/>
              </a:ext>
            </a:extLst>
          </p:cNvPr>
          <p:cNvGraphicFramePr>
            <a:graphicFrameLocks noGrp="1"/>
          </p:cNvGraphicFramePr>
          <p:nvPr>
            <p:extLst>
              <p:ext uri="{D42A27DB-BD31-4B8C-83A1-F6EECF244321}">
                <p14:modId xmlns:p14="http://schemas.microsoft.com/office/powerpoint/2010/main" val="4117205037"/>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a:lnSpc>
                          <a:spcPct val="200000"/>
                        </a:lnSpc>
                      </a:pPr>
                      <a:r>
                        <a:rPr lang="en-IN" sz="1800" b="1" i="0" u="sng" kern="1200" dirty="0">
                          <a:solidFill>
                            <a:schemeClr val="tx1"/>
                          </a:solidFill>
                          <a:effectLst/>
                          <a:latin typeface="+mn-lt"/>
                          <a:ea typeface="+mn-ea"/>
                          <a:cs typeface="+mn-cs"/>
                        </a:rPr>
                        <a:t>BACKEND</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Python</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Flask</a:t>
                      </a:r>
                    </a:p>
                    <a:p>
                      <a:pPr>
                        <a:lnSpc>
                          <a:spcPct val="200000"/>
                        </a:lnSpc>
                      </a:pPr>
                      <a:r>
                        <a:rPr lang="en-IN" sz="1800" b="1" i="0" u="sng" kern="1200" dirty="0">
                          <a:solidFill>
                            <a:schemeClr val="tx1"/>
                          </a:solidFill>
                          <a:effectLst/>
                          <a:latin typeface="+mn-lt"/>
                          <a:ea typeface="+mn-ea"/>
                          <a:cs typeface="+mn-cs"/>
                        </a:rPr>
                        <a:t>FRONTEND</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HTML</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CSS</a:t>
                      </a:r>
                    </a:p>
                    <a:p>
                      <a:pPr>
                        <a:lnSpc>
                          <a:spcPct val="200000"/>
                        </a:lnSpc>
                      </a:pPr>
                      <a:r>
                        <a:rPr lang="en-IN" sz="1800" b="1" i="0" u="sng" kern="1200" dirty="0">
                          <a:solidFill>
                            <a:schemeClr val="tx1"/>
                          </a:solidFill>
                          <a:effectLst/>
                          <a:latin typeface="+mn-lt"/>
                          <a:ea typeface="+mn-ea"/>
                          <a:cs typeface="+mn-cs"/>
                        </a:rPr>
                        <a:t>LIBRARY</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PyPDF2</a:t>
                      </a:r>
                    </a:p>
                    <a:p>
                      <a:pPr>
                        <a:lnSpc>
                          <a:spcPct val="200000"/>
                        </a:lnSpc>
                      </a:pPr>
                      <a:r>
                        <a:rPr lang="en-IN" sz="1800" b="1" i="0" u="sng" kern="1200" dirty="0">
                          <a:solidFill>
                            <a:schemeClr val="tx1"/>
                          </a:solidFill>
                          <a:effectLst/>
                          <a:latin typeface="+mn-lt"/>
                          <a:ea typeface="+mn-ea"/>
                          <a:cs typeface="+mn-cs"/>
                        </a:rPr>
                        <a:t>IDE</a:t>
                      </a:r>
                    </a:p>
                    <a:p>
                      <a:pPr marL="538163" indent="-22225">
                        <a:lnSpc>
                          <a:spcPct val="200000"/>
                        </a:lnSpc>
                        <a:buFont typeface="Arial" panose="020B0604020202020204" pitchFamily="34" charset="0"/>
                        <a:buChar char="•"/>
                      </a:pPr>
                      <a:r>
                        <a:rPr lang="en-IN" sz="1800" b="0" i="0" kern="1200" dirty="0">
                          <a:solidFill>
                            <a:schemeClr val="tx1"/>
                          </a:solidFill>
                          <a:effectLst/>
                          <a:latin typeface="+mn-lt"/>
                          <a:ea typeface="+mn-ea"/>
                          <a:cs typeface="+mn-cs"/>
                        </a:rPr>
                        <a:t>	VS Code</a:t>
                      </a:r>
                    </a:p>
                    <a:p>
                      <a:pPr indent="0" algn="ctr">
                        <a:lnSpc>
                          <a:spcPct val="200000"/>
                        </a:lnSpc>
                        <a:buNone/>
                      </a:pPr>
                      <a:endParaRPr lang="en-IN" sz="2000" b="1" i="0"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714BAF14-DE1D-5724-62EF-53BE2B68745E}"/>
              </a:ext>
            </a:extLst>
          </p:cNvPr>
          <p:cNvGraphicFramePr>
            <a:graphicFrameLocks noGrp="1"/>
          </p:cNvGraphicFramePr>
          <p:nvPr>
            <p:extLst>
              <p:ext uri="{D42A27DB-BD31-4B8C-83A1-F6EECF244321}">
                <p14:modId xmlns:p14="http://schemas.microsoft.com/office/powerpoint/2010/main" val="4292066677"/>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IMPLEMENTATION</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54975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A4CEE-527E-95D8-C460-DF194A83828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4192DF-E41E-D0CA-BAA4-E97A045C42DB}"/>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C176C2DF-0EF2-C03F-AF94-7942928F6CAE}"/>
              </a:ext>
            </a:extLst>
          </p:cNvPr>
          <p:cNvGraphicFramePr>
            <a:graphicFrameLocks noGrp="1"/>
          </p:cNvGraphicFramePr>
          <p:nvPr>
            <p:extLst>
              <p:ext uri="{D42A27DB-BD31-4B8C-83A1-F6EECF244321}">
                <p14:modId xmlns:p14="http://schemas.microsoft.com/office/powerpoint/2010/main" val="896817820"/>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lnSpc>
                          <a:spcPct val="100000"/>
                        </a:lnSpc>
                        <a:buNone/>
                      </a:pPr>
                      <a:r>
                        <a:rPr lang="en-IN" sz="2000" b="1" i="0" u="none" dirty="0">
                          <a:solidFill>
                            <a:srgbClr val="222222"/>
                          </a:solidFill>
                          <a:effectLst/>
                          <a:latin typeface="Arial" panose="020B0604020202020204" pitchFamily="34" charset="0"/>
                        </a:rPr>
                        <a:t>FIGURE-1 (HOME PAGE)</a:t>
                      </a: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2E7D93E9-CABF-7160-6602-93CBD891A9C6}"/>
              </a:ext>
            </a:extLst>
          </p:cNvPr>
          <p:cNvGraphicFramePr>
            <a:graphicFrameLocks noGrp="1"/>
          </p:cNvGraphicFramePr>
          <p:nvPr>
            <p:extLst>
              <p:ext uri="{D42A27DB-BD31-4B8C-83A1-F6EECF244321}">
                <p14:modId xmlns:p14="http://schemas.microsoft.com/office/powerpoint/2010/main" val="2043705815"/>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PROJECT OUTPUT</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pic>
        <p:nvPicPr>
          <p:cNvPr id="3" name="Picture 2">
            <a:extLst>
              <a:ext uri="{FF2B5EF4-FFF2-40B4-BE49-F238E27FC236}">
                <a16:creationId xmlns:a16="http://schemas.microsoft.com/office/drawing/2014/main" id="{A5D91ACF-C034-9F85-20C2-E1894741E034}"/>
              </a:ext>
            </a:extLst>
          </p:cNvPr>
          <p:cNvPicPr>
            <a:picLocks noChangeAspect="1"/>
          </p:cNvPicPr>
          <p:nvPr/>
        </p:nvPicPr>
        <p:blipFill>
          <a:blip r:embed="rId2"/>
          <a:stretch>
            <a:fillRect/>
          </a:stretch>
        </p:blipFill>
        <p:spPr>
          <a:xfrm>
            <a:off x="0" y="1133056"/>
            <a:ext cx="12192000" cy="5724944"/>
          </a:xfrm>
          <a:prstGeom prst="rect">
            <a:avLst/>
          </a:prstGeom>
        </p:spPr>
      </p:pic>
    </p:spTree>
    <p:extLst>
      <p:ext uri="{BB962C8B-B14F-4D97-AF65-F5344CB8AC3E}">
        <p14:creationId xmlns:p14="http://schemas.microsoft.com/office/powerpoint/2010/main" val="3912221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BB32A-7448-342F-CD58-91DD4B4E2BF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82A8DDD-E95C-55AD-890B-AC27C2E83C9A}"/>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FD8FD57F-C6B1-5012-8A13-201D2FB48102}"/>
              </a:ext>
            </a:extLst>
          </p:cNvPr>
          <p:cNvGraphicFramePr>
            <a:graphicFrameLocks noGrp="1"/>
          </p:cNvGraphicFramePr>
          <p:nvPr>
            <p:extLst>
              <p:ext uri="{D42A27DB-BD31-4B8C-83A1-F6EECF244321}">
                <p14:modId xmlns:p14="http://schemas.microsoft.com/office/powerpoint/2010/main" val="2626138164"/>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lnSpc>
                          <a:spcPct val="100000"/>
                        </a:lnSpc>
                        <a:buNone/>
                      </a:pPr>
                      <a:r>
                        <a:rPr lang="en-IN" sz="2000" b="1" i="0" u="none" dirty="0">
                          <a:solidFill>
                            <a:srgbClr val="222222"/>
                          </a:solidFill>
                          <a:effectLst/>
                          <a:latin typeface="Arial" panose="020B0604020202020204" pitchFamily="34" charset="0"/>
                        </a:rPr>
                        <a:t>FIGURE-2 (RESUME UPLOAD)</a:t>
                      </a:r>
                    </a:p>
                    <a:p>
                      <a:pPr indent="0" algn="l">
                        <a:lnSpc>
                          <a:spcPct val="100000"/>
                        </a:lnSpc>
                        <a:buNone/>
                      </a:pPr>
                      <a:endParaRPr lang="en-IN" sz="2000" b="1" i="0" u="none" dirty="0">
                        <a:solidFill>
                          <a:srgbClr val="222222"/>
                        </a:solidFill>
                        <a:effectLst/>
                        <a:latin typeface="Arial" panose="020B0604020202020204" pitchFamily="34" charset="0"/>
                      </a:endParaRP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042DD376-FCEA-A956-5F58-25A01C49AAE5}"/>
              </a:ext>
            </a:extLst>
          </p:cNvPr>
          <p:cNvGraphicFramePr>
            <a:graphicFrameLocks noGrp="1"/>
          </p:cNvGraphicFramePr>
          <p:nvPr>
            <p:extLst>
              <p:ext uri="{D42A27DB-BD31-4B8C-83A1-F6EECF244321}">
                <p14:modId xmlns:p14="http://schemas.microsoft.com/office/powerpoint/2010/main" val="1774703135"/>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PROJECT OUTPUT</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pic>
        <p:nvPicPr>
          <p:cNvPr id="7" name="Picture 6">
            <a:extLst>
              <a:ext uri="{FF2B5EF4-FFF2-40B4-BE49-F238E27FC236}">
                <a16:creationId xmlns:a16="http://schemas.microsoft.com/office/drawing/2014/main" id="{711ACD56-2091-6811-FD69-EA7FFC50D1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7760"/>
            <a:ext cx="12192000" cy="5730240"/>
          </a:xfrm>
          <a:prstGeom prst="rect">
            <a:avLst/>
          </a:prstGeom>
        </p:spPr>
      </p:pic>
    </p:spTree>
    <p:extLst>
      <p:ext uri="{BB962C8B-B14F-4D97-AF65-F5344CB8AC3E}">
        <p14:creationId xmlns:p14="http://schemas.microsoft.com/office/powerpoint/2010/main" val="730256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C4229-073C-57A7-68FB-456FF2E7F74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8118898-B08C-724A-CDDF-92DAFA0AEC18}"/>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7916D836-BEBC-4607-8879-BB9C3176B81F}"/>
              </a:ext>
            </a:extLst>
          </p:cNvPr>
          <p:cNvGraphicFramePr>
            <a:graphicFrameLocks noGrp="1"/>
          </p:cNvGraphicFramePr>
          <p:nvPr>
            <p:extLst>
              <p:ext uri="{D42A27DB-BD31-4B8C-83A1-F6EECF244321}">
                <p14:modId xmlns:p14="http://schemas.microsoft.com/office/powerpoint/2010/main" val="1404926366"/>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lnSpc>
                          <a:spcPct val="100000"/>
                        </a:lnSpc>
                        <a:buNone/>
                      </a:pPr>
                      <a:r>
                        <a:rPr lang="en-IN" sz="2000" b="1" i="0" u="none" dirty="0">
                          <a:solidFill>
                            <a:srgbClr val="222222"/>
                          </a:solidFill>
                          <a:effectLst/>
                          <a:latin typeface="Arial" panose="020B0604020202020204" pitchFamily="34" charset="0"/>
                        </a:rPr>
                        <a:t>FIGURE-3 (RESULT)</a:t>
                      </a:r>
                    </a:p>
                    <a:p>
                      <a:pPr indent="0" algn="l">
                        <a:lnSpc>
                          <a:spcPct val="100000"/>
                        </a:lnSpc>
                        <a:buNone/>
                      </a:pPr>
                      <a:endParaRPr lang="en-IN" sz="2000" b="1" i="0" u="none" dirty="0">
                        <a:solidFill>
                          <a:srgbClr val="222222"/>
                        </a:solidFill>
                        <a:effectLst/>
                        <a:latin typeface="Arial" panose="020B0604020202020204" pitchFamily="34" charset="0"/>
                      </a:endParaRP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AD9519B2-D2AE-D459-1163-0EC077B3A8CF}"/>
              </a:ext>
            </a:extLst>
          </p:cNvPr>
          <p:cNvGraphicFramePr>
            <a:graphicFrameLocks noGrp="1"/>
          </p:cNvGraphicFramePr>
          <p:nvPr>
            <p:extLst>
              <p:ext uri="{D42A27DB-BD31-4B8C-83A1-F6EECF244321}">
                <p14:modId xmlns:p14="http://schemas.microsoft.com/office/powerpoint/2010/main" val="2422485658"/>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a:solidFill>
                            <a:srgbClr val="222222"/>
                          </a:solidFill>
                          <a:effectLst>
                            <a:outerShdw blurRad="38100" dist="38100" dir="2700000" algn="tl">
                              <a:srgbClr val="000000">
                                <a:alpha val="43137"/>
                              </a:srgbClr>
                            </a:outerShdw>
                          </a:effectLst>
                          <a:latin typeface="Arial" panose="020B0604020202020204" pitchFamily="34" charset="0"/>
                        </a:rPr>
                        <a:t>PROJECT OUTPUT</a:t>
                      </a:r>
                      <a:endPar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endParaRP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pic>
        <p:nvPicPr>
          <p:cNvPr id="6" name="Picture 5">
            <a:extLst>
              <a:ext uri="{FF2B5EF4-FFF2-40B4-BE49-F238E27FC236}">
                <a16:creationId xmlns:a16="http://schemas.microsoft.com/office/drawing/2014/main" id="{7D8A9FF7-06BE-FACD-CAE5-9DB6BDD92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7919"/>
            <a:ext cx="12192000" cy="5720081"/>
          </a:xfrm>
          <a:prstGeom prst="rect">
            <a:avLst/>
          </a:prstGeom>
        </p:spPr>
      </p:pic>
    </p:spTree>
    <p:extLst>
      <p:ext uri="{BB962C8B-B14F-4D97-AF65-F5344CB8AC3E}">
        <p14:creationId xmlns:p14="http://schemas.microsoft.com/office/powerpoint/2010/main" val="1476234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365ED-75AB-DC44-6C90-F5D27693105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66D0109-4BE7-3BAF-7316-0D711EE88A27}"/>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44BE1502-8F66-B178-09B3-8E9CB6BE7309}"/>
              </a:ext>
            </a:extLst>
          </p:cNvPr>
          <p:cNvGraphicFramePr>
            <a:graphicFrameLocks noGrp="1"/>
          </p:cNvGraphicFramePr>
          <p:nvPr>
            <p:extLst>
              <p:ext uri="{D42A27DB-BD31-4B8C-83A1-F6EECF244321}">
                <p14:modId xmlns:p14="http://schemas.microsoft.com/office/powerpoint/2010/main" val="989276342"/>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buNone/>
                      </a:pPr>
                      <a:r>
                        <a:rPr lang="en-IN" sz="2000" b="1" i="0" dirty="0">
                          <a:solidFill>
                            <a:srgbClr val="222222"/>
                          </a:solidFill>
                          <a:effectLst/>
                          <a:latin typeface="Arial" panose="020B0604020202020204" pitchFamily="34" charset="0"/>
                        </a:rPr>
                        <a:t>Match Score	-	87%</a:t>
                      </a:r>
                    </a:p>
                    <a:p>
                      <a:pPr indent="0" algn="l">
                        <a:buNone/>
                      </a:pPr>
                      <a:endParaRPr lang="en-IN" sz="2000" b="0" i="0" dirty="0">
                        <a:solidFill>
                          <a:srgbClr val="222222"/>
                        </a:solidFill>
                        <a:effectLst/>
                        <a:latin typeface="Arial" panose="020B0604020202020204" pitchFamily="34" charset="0"/>
                      </a:endParaRPr>
                    </a:p>
                    <a:p>
                      <a:pPr indent="0" algn="l">
                        <a:buNone/>
                      </a:pPr>
                      <a:r>
                        <a:rPr lang="en-IN" sz="2000" b="0" i="0" dirty="0">
                          <a:solidFill>
                            <a:srgbClr val="222222"/>
                          </a:solidFill>
                          <a:effectLst/>
                          <a:latin typeface="Arial" panose="020B0604020202020204" pitchFamily="34" charset="0"/>
                        </a:rPr>
                        <a:t>Matched Skills</a:t>
                      </a:r>
                    </a:p>
                    <a:p>
                      <a:pPr indent="0" algn="l">
                        <a:buNone/>
                      </a:pPr>
                      <a:endParaRPr lang="en-IN" sz="2000" b="0" i="0" dirty="0">
                        <a:solidFill>
                          <a:srgbClr val="222222"/>
                        </a:solidFill>
                        <a:effectLst/>
                        <a:latin typeface="Arial" panose="020B0604020202020204" pitchFamily="34" charset="0"/>
                      </a:endParaRP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Python</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HTML</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CSS</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JavaScript</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Machine Learning</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AI</a:t>
                      </a:r>
                    </a:p>
                    <a:p>
                      <a:pPr marL="538163"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SQL</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indent="0" algn="l">
                        <a:buNone/>
                      </a:pPr>
                      <a:r>
                        <a:rPr lang="en-IN" sz="2000" b="0" i="0" dirty="0">
                          <a:solidFill>
                            <a:srgbClr val="222222"/>
                          </a:solidFill>
                          <a:effectLst/>
                          <a:latin typeface="Arial" panose="020B0604020202020204" pitchFamily="34" charset="0"/>
                        </a:rPr>
                        <a:t>Missing Skills also displayed successfully.</a:t>
                      </a:r>
                    </a:p>
                    <a:p>
                      <a:pPr indent="0" algn="l">
                        <a:lnSpc>
                          <a:spcPct val="100000"/>
                        </a:lnSpc>
                        <a:buNone/>
                      </a:pPr>
                      <a:endParaRPr lang="en-IN" sz="2000" b="1" i="0" u="none" dirty="0">
                        <a:solidFill>
                          <a:srgbClr val="222222"/>
                        </a:solidFill>
                        <a:effectLst/>
                        <a:latin typeface="Arial" panose="020B0604020202020204" pitchFamily="34" charset="0"/>
                      </a:endParaRP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8E7A3888-1B57-8E41-2ECB-BC7DE55D0B0D}"/>
              </a:ext>
            </a:extLst>
          </p:cNvPr>
          <p:cNvGraphicFramePr>
            <a:graphicFrameLocks noGrp="1"/>
          </p:cNvGraphicFramePr>
          <p:nvPr>
            <p:extLst>
              <p:ext uri="{D42A27DB-BD31-4B8C-83A1-F6EECF244321}">
                <p14:modId xmlns:p14="http://schemas.microsoft.com/office/powerpoint/2010/main" val="239634217"/>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RESULTS</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2784669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038E-FF9C-487C-03BE-3500BDDC1F1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8D7A2CA-DE45-BA22-68F5-F8EA674D69EC}"/>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EFECE194-0874-3C9A-24BF-6C3FA688B7C7}"/>
              </a:ext>
            </a:extLst>
          </p:cNvPr>
          <p:cNvGraphicFramePr>
            <a:graphicFrameLocks noGrp="1"/>
          </p:cNvGraphicFramePr>
          <p:nvPr>
            <p:extLst>
              <p:ext uri="{D42A27DB-BD31-4B8C-83A1-F6EECF244321}">
                <p14:modId xmlns:p14="http://schemas.microsoft.com/office/powerpoint/2010/main" val="3330699343"/>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l">
                        <a:buNone/>
                      </a:pPr>
                      <a:r>
                        <a:rPr lang="en-IN" sz="2000" b="1" i="0" u="sng" dirty="0">
                          <a:solidFill>
                            <a:srgbClr val="222222"/>
                          </a:solidFill>
                          <a:effectLst/>
                          <a:latin typeface="Arial" panose="020B0604020202020204" pitchFamily="34" charset="0"/>
                        </a:rPr>
                        <a:t>ADVANTAGES</a:t>
                      </a:r>
                    </a:p>
                    <a:p>
                      <a:pPr indent="0" algn="l">
                        <a:buNone/>
                      </a:pPr>
                      <a:endParaRPr lang="en-IN" sz="2000" b="1" i="0" dirty="0">
                        <a:solidFill>
                          <a:srgbClr val="222222"/>
                        </a:solidFill>
                        <a:effectLst/>
                        <a:latin typeface="Arial" panose="020B0604020202020204" pitchFamily="34" charset="0"/>
                      </a:endParaRP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Fast</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User Friendly</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Automatic Analysis</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Saves Time</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AI Based</a:t>
                      </a:r>
                    </a:p>
                    <a:p>
                      <a:pPr marL="142875" indent="0" algn="l">
                        <a:buFont typeface="Arial" panose="020B0604020202020204" pitchFamily="34" charset="0"/>
                        <a:buChar char="•"/>
                      </a:pPr>
                      <a:endParaRPr lang="en-IN" sz="2000" b="0" i="0" dirty="0">
                        <a:solidFill>
                          <a:srgbClr val="222222"/>
                        </a:solidFill>
                        <a:effectLst/>
                        <a:latin typeface="Arial" panose="020B0604020202020204" pitchFamily="34" charset="0"/>
                      </a:endParaRPr>
                    </a:p>
                    <a:p>
                      <a:pPr indent="0" algn="l">
                        <a:buNone/>
                      </a:pPr>
                      <a:r>
                        <a:rPr lang="en-IN" sz="2000" b="1" i="0" u="sng" dirty="0">
                          <a:solidFill>
                            <a:srgbClr val="222222"/>
                          </a:solidFill>
                          <a:effectLst/>
                          <a:latin typeface="Arial" panose="020B0604020202020204" pitchFamily="34" charset="0"/>
                        </a:rPr>
                        <a:t>LIMITATIONS</a:t>
                      </a:r>
                    </a:p>
                    <a:p>
                      <a:pPr indent="0" algn="l">
                        <a:buNone/>
                      </a:pPr>
                      <a:endParaRPr lang="en-IN" sz="2000" b="1" i="0" dirty="0">
                        <a:solidFill>
                          <a:srgbClr val="222222"/>
                        </a:solidFill>
                        <a:effectLst/>
                        <a:latin typeface="Arial" panose="020B0604020202020204" pitchFamily="34" charset="0"/>
                      </a:endParaRP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PDF Only</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Keyword Matching</a:t>
                      </a:r>
                    </a:p>
                    <a:p>
                      <a:pPr marL="142875" indent="0" algn="l">
                        <a:lnSpc>
                          <a:spcPct val="150000"/>
                        </a:lnSpc>
                        <a:buFont typeface="Arial" panose="020B0604020202020204" pitchFamily="34" charset="0"/>
                        <a:buChar char="•"/>
                      </a:pPr>
                      <a:r>
                        <a:rPr lang="en-IN" sz="2000" b="0" i="0" dirty="0">
                          <a:solidFill>
                            <a:srgbClr val="222222"/>
                          </a:solidFill>
                          <a:effectLst/>
                          <a:latin typeface="Arial" panose="020B0604020202020204" pitchFamily="34" charset="0"/>
                        </a:rPr>
                        <a:t> Limited NLP</a:t>
                      </a: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446FA1CE-4591-7F3C-D43A-9151105CFACC}"/>
              </a:ext>
            </a:extLst>
          </p:cNvPr>
          <p:cNvGraphicFramePr>
            <a:graphicFrameLocks noGrp="1"/>
          </p:cNvGraphicFramePr>
          <p:nvPr>
            <p:extLst>
              <p:ext uri="{D42A27DB-BD31-4B8C-83A1-F6EECF244321}">
                <p14:modId xmlns:p14="http://schemas.microsoft.com/office/powerpoint/2010/main" val="3884173761"/>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ADVANTAGES &amp; LIMITATIONS</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1558968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2EFE7-2068-03F6-1FF9-EF71F5F161D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39F5FCB-36A4-5B24-2CA3-E044D19A27B6}"/>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9E1C0CA4-26DE-3B4E-3CB4-84A9FD944ED7}"/>
              </a:ext>
            </a:extLst>
          </p:cNvPr>
          <p:cNvGraphicFramePr>
            <a:graphicFrameLocks noGrp="1"/>
          </p:cNvGraphicFramePr>
          <p:nvPr>
            <p:extLst>
              <p:ext uri="{D42A27DB-BD31-4B8C-83A1-F6EECF244321}">
                <p14:modId xmlns:p14="http://schemas.microsoft.com/office/powerpoint/2010/main" val="2873292144"/>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NLP Integration</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Machine Learning</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ATS Score</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Cloud Deployment</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Database Support</a:t>
                      </a:r>
                    </a:p>
                    <a:p>
                      <a:pPr marL="142875" indent="0" algn="l">
                        <a:lnSpc>
                          <a:spcPct val="200000"/>
                        </a:lnSpc>
                        <a:buFont typeface="Arial" panose="020B0604020202020204" pitchFamily="34" charset="0"/>
                        <a:buChar char="•"/>
                      </a:pPr>
                      <a:r>
                        <a:rPr lang="en-IN" sz="2000" b="0" i="0" dirty="0">
                          <a:solidFill>
                            <a:srgbClr val="222222"/>
                          </a:solidFill>
                          <a:effectLst/>
                          <a:latin typeface="Arial" panose="020B0604020202020204" pitchFamily="34" charset="0"/>
                        </a:rPr>
                        <a:t> Resume Recommendation</a:t>
                      </a:r>
                    </a:p>
                    <a:p>
                      <a:pPr indent="0" algn="l">
                        <a:lnSpc>
                          <a:spcPct val="100000"/>
                        </a:lnSpc>
                        <a:buNone/>
                      </a:pP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E96937EC-1291-1665-6C80-8ED9594ED48B}"/>
              </a:ext>
            </a:extLst>
          </p:cNvPr>
          <p:cNvGraphicFramePr>
            <a:graphicFrameLocks noGrp="1"/>
          </p:cNvGraphicFramePr>
          <p:nvPr>
            <p:extLst>
              <p:ext uri="{D42A27DB-BD31-4B8C-83A1-F6EECF244321}">
                <p14:modId xmlns:p14="http://schemas.microsoft.com/office/powerpoint/2010/main" val="3071511910"/>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FUTURE SCOPE</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313571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2F32E-8835-94F1-22FA-B8CAFC242BD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C2B5E4-B1AC-87DD-6D10-44A03C2C6D63}"/>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2" name="Table 1">
            <a:extLst>
              <a:ext uri="{FF2B5EF4-FFF2-40B4-BE49-F238E27FC236}">
                <a16:creationId xmlns:a16="http://schemas.microsoft.com/office/drawing/2014/main" id="{AC54E2FD-682D-EB28-B618-72B470B3802B}"/>
              </a:ext>
            </a:extLst>
          </p:cNvPr>
          <p:cNvGraphicFramePr>
            <a:graphicFrameLocks noGrp="1"/>
          </p:cNvGraphicFramePr>
          <p:nvPr>
            <p:extLst>
              <p:ext uri="{D42A27DB-BD31-4B8C-83A1-F6EECF244321}">
                <p14:modId xmlns:p14="http://schemas.microsoft.com/office/powerpoint/2010/main" val="4107665761"/>
              </p:ext>
            </p:extLst>
          </p:nvPr>
        </p:nvGraphicFramePr>
        <p:xfrm>
          <a:off x="0" y="763694"/>
          <a:ext cx="12192000" cy="6094306"/>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4144525766"/>
                    </a:ext>
                  </a:extLst>
                </a:gridCol>
              </a:tblGrid>
              <a:tr h="6094306">
                <a:tc>
                  <a:txBody>
                    <a:bodyPr/>
                    <a:lstStyle/>
                    <a:p>
                      <a:pPr indent="0" algn="just">
                        <a:lnSpc>
                          <a:spcPct val="100000"/>
                        </a:lnSpc>
                        <a:buNone/>
                      </a:pPr>
                      <a:r>
                        <a:rPr lang="en-IN" sz="2000" b="0" i="0" dirty="0">
                          <a:solidFill>
                            <a:srgbClr val="222222"/>
                          </a:solidFill>
                          <a:effectLst/>
                          <a:latin typeface="Arial" panose="020B0604020202020204" pitchFamily="34" charset="0"/>
                        </a:rPr>
                        <a:t>	</a:t>
                      </a:r>
                    </a:p>
                    <a:p>
                      <a:pPr indent="0" algn="just">
                        <a:lnSpc>
                          <a:spcPct val="100000"/>
                        </a:lnSpc>
                        <a:buNone/>
                      </a:pPr>
                      <a:r>
                        <a:rPr lang="en-IN" sz="2000" b="0" i="0" dirty="0">
                          <a:solidFill>
                            <a:srgbClr val="222222"/>
                          </a:solidFill>
                          <a:effectLst/>
                          <a:latin typeface="Arial" panose="020B0604020202020204" pitchFamily="34" charset="0"/>
                        </a:rPr>
                        <a:t>	The AI Resume Analyzer successfully automates the resume screening process by extracting text from PDF resumes, identifying technical skills, and comparing them with job descriptions. It generates a match score and highlights matched as well as missing skills, making the recruitment process faster and more efficient. The system reduces manual effort, saves time, and helps recruiters identify suitable candidates quickly. It also provides useful feedback to job seekers for improving their resumes. This project demonstrates the practical application of Artificial Intelligence in recruitment and can be further enhanced with Machine Learning, Natural Language Processing (NLP), and cloud-based deployment in the future.</a:t>
                      </a:r>
                      <a:endParaRPr lang="en-IN" sz="2000" b="1" i="0" u="none" dirty="0">
                        <a:solidFill>
                          <a:srgbClr val="222222"/>
                        </a:solidFill>
                        <a:effectLst/>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73416611"/>
                  </a:ext>
                </a:extLst>
              </a:tr>
            </a:tbl>
          </a:graphicData>
        </a:graphic>
      </p:graphicFrame>
      <p:graphicFrame>
        <p:nvGraphicFramePr>
          <p:cNvPr id="5" name="Table 4">
            <a:extLst>
              <a:ext uri="{FF2B5EF4-FFF2-40B4-BE49-F238E27FC236}">
                <a16:creationId xmlns:a16="http://schemas.microsoft.com/office/drawing/2014/main" id="{4E13BDB7-6A8B-0027-DC87-1DE9A9080F47}"/>
              </a:ext>
            </a:extLst>
          </p:cNvPr>
          <p:cNvGraphicFramePr>
            <a:graphicFrameLocks noGrp="1"/>
          </p:cNvGraphicFramePr>
          <p:nvPr>
            <p:extLst>
              <p:ext uri="{D42A27DB-BD31-4B8C-83A1-F6EECF244321}">
                <p14:modId xmlns:p14="http://schemas.microsoft.com/office/powerpoint/2010/main" val="783044568"/>
              </p:ext>
            </p:extLst>
          </p:nvPr>
        </p:nvGraphicFramePr>
        <p:xfrm>
          <a:off x="0" y="0"/>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CONCLUSION</a:t>
                      </a:r>
                    </a:p>
                  </a:txBody>
                  <a:tcPr anchor="ctr">
                    <a:solidFill>
                      <a:schemeClr val="accent2">
                        <a:lumMod val="40000"/>
                        <a:lumOff val="60000"/>
                      </a:schemeClr>
                    </a:solid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3994667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E684A-910B-A58D-8AFF-4BFE96B1A32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BFE5E87-494D-FC00-7BCC-9DDAAB8C9506}"/>
              </a:ext>
            </a:extLst>
          </p:cNvPr>
          <p:cNvGraphicFramePr>
            <a:graphicFrameLocks noGrp="1"/>
          </p:cNvGraphicFramePr>
          <p:nvPr/>
        </p:nvGraphicFramePr>
        <p:xfrm>
          <a:off x="0" y="0"/>
          <a:ext cx="12192000" cy="6858000"/>
        </p:xfrm>
        <a:graphic>
          <a:graphicData uri="http://schemas.openxmlformats.org/drawingml/2006/table">
            <a:tbl>
              <a:tblPr firstRow="1" bandRow="1">
                <a:tableStyleId>{2D5ABB26-0587-4C30-8999-92F81FD0307C}</a:tableStyleId>
              </a:tblPr>
              <a:tblGrid>
                <a:gridCol w="12192000">
                  <a:extLst>
                    <a:ext uri="{9D8B030D-6E8A-4147-A177-3AD203B41FA5}">
                      <a16:colId xmlns:a16="http://schemas.microsoft.com/office/drawing/2014/main" val="1265683401"/>
                    </a:ext>
                  </a:extLst>
                </a:gridCol>
              </a:tblGrid>
              <a:tr h="6858000">
                <a:tc>
                  <a:txBody>
                    <a:bodyPr/>
                    <a:lstStyle/>
                    <a:p>
                      <a:endParaRPr lang="en-US" dirty="0"/>
                    </a:p>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lin ang="2700000" scaled="1"/>
                      <a:tileRect/>
                    </a:gradFill>
                  </a:tcPr>
                </a:tc>
                <a:extLst>
                  <a:ext uri="{0D108BD9-81ED-4DB2-BD59-A6C34878D82A}">
                    <a16:rowId xmlns:a16="http://schemas.microsoft.com/office/drawing/2014/main" val="1264966222"/>
                  </a:ext>
                </a:extLst>
              </a:tr>
            </a:tbl>
          </a:graphicData>
        </a:graphic>
      </p:graphicFrame>
      <p:graphicFrame>
        <p:nvGraphicFramePr>
          <p:cNvPr id="5" name="Table 4">
            <a:extLst>
              <a:ext uri="{FF2B5EF4-FFF2-40B4-BE49-F238E27FC236}">
                <a16:creationId xmlns:a16="http://schemas.microsoft.com/office/drawing/2014/main" id="{DAE852F1-1879-0BAE-8B6D-0757EA222333}"/>
              </a:ext>
            </a:extLst>
          </p:cNvPr>
          <p:cNvGraphicFramePr>
            <a:graphicFrameLocks noGrp="1"/>
          </p:cNvGraphicFramePr>
          <p:nvPr>
            <p:extLst>
              <p:ext uri="{D42A27DB-BD31-4B8C-83A1-F6EECF244321}">
                <p14:modId xmlns:p14="http://schemas.microsoft.com/office/powerpoint/2010/main" val="372794920"/>
              </p:ext>
            </p:extLst>
          </p:nvPr>
        </p:nvGraphicFramePr>
        <p:xfrm>
          <a:off x="0" y="2935393"/>
          <a:ext cx="12192000" cy="763694"/>
        </p:xfrm>
        <a:graphic>
          <a:graphicData uri="http://schemas.openxmlformats.org/drawingml/2006/table">
            <a:tbl>
              <a:tblPr firstRow="1" bandRow="1">
                <a:effectLst>
                  <a:innerShdw blurRad="114300">
                    <a:prstClr val="black"/>
                  </a:innerShdw>
                </a:effectLst>
                <a:tableStyleId>{2D5ABB26-0587-4C30-8999-92F81FD0307C}</a:tableStyleId>
              </a:tblPr>
              <a:tblGrid>
                <a:gridCol w="12192000">
                  <a:extLst>
                    <a:ext uri="{9D8B030D-6E8A-4147-A177-3AD203B41FA5}">
                      <a16:colId xmlns:a16="http://schemas.microsoft.com/office/drawing/2014/main" val="2501586406"/>
                    </a:ext>
                  </a:extLst>
                </a:gridCol>
              </a:tblGrid>
              <a:tr h="763694">
                <a:tc>
                  <a:txBody>
                    <a:bodyPr/>
                    <a:lstStyle/>
                    <a:p>
                      <a:pPr indent="0" algn="ctr">
                        <a:buNone/>
                      </a:pPr>
                      <a:r>
                        <a:rPr lang="en-IN" sz="3600" b="1" i="0" u="sng" dirty="0">
                          <a:solidFill>
                            <a:srgbClr val="222222"/>
                          </a:solidFill>
                          <a:effectLst>
                            <a:outerShdw blurRad="38100" dist="38100" dir="2700000" algn="tl">
                              <a:srgbClr val="000000">
                                <a:alpha val="43137"/>
                              </a:srgbClr>
                            </a:outerShdw>
                          </a:effectLst>
                          <a:latin typeface="Arial" panose="020B0604020202020204" pitchFamily="34" charset="0"/>
                        </a:rPr>
                        <a:t>THANK YOU</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82636537"/>
                  </a:ext>
                </a:extLst>
              </a:tr>
            </a:tbl>
          </a:graphicData>
        </a:graphic>
      </p:graphicFrame>
    </p:spTree>
    <p:extLst>
      <p:ext uri="{BB962C8B-B14F-4D97-AF65-F5344CB8AC3E}">
        <p14:creationId xmlns:p14="http://schemas.microsoft.com/office/powerpoint/2010/main" val="415360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513</Words>
  <Application>Microsoft Office PowerPoint</Application>
  <PresentationFormat>Widescreen</PresentationFormat>
  <Paragraphs>209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preeti 18</dc:creator>
  <cp:lastModifiedBy>preeti 18</cp:lastModifiedBy>
  <cp:revision>8</cp:revision>
  <dcterms:created xsi:type="dcterms:W3CDTF">2026-07-07T07:06:46Z</dcterms:created>
  <dcterms:modified xsi:type="dcterms:W3CDTF">2026-07-07T10:25:52Z</dcterms:modified>
</cp:coreProperties>
</file>